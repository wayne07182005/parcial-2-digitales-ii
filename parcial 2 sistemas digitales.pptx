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73" r:id="rId10"/>
    <p:sldId id="263" r:id="rId11"/>
    <p:sldId id="264" r:id="rId12"/>
    <p:sldId id="27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0"/>
  </p:normalViewPr>
  <p:slideViewPr>
    <p:cSldViewPr snapToGrid="0" snapToObjects="1">
      <p:cViewPr varScale="1">
        <p:scale>
          <a:sx n="103" d="100"/>
          <a:sy n="103" d="100"/>
        </p:scale>
        <p:origin x="188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Control Inteligente de Trenes con FSM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2000" dirty="0"/>
              <a:t>Sergio Andrés Guerrero Herrera</a:t>
            </a:r>
          </a:p>
          <a:p>
            <a:r>
              <a:rPr lang="es-ES" sz="2000" dirty="0"/>
              <a:t>Wayne Kelly Elles</a:t>
            </a:r>
            <a:endParaRPr sz="2000" dirty="0"/>
          </a:p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1890CC6-FDC2-9B03-467E-89E069641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292"/>
    </mc:Choice>
    <mc:Fallback>
      <p:transition spd="slow" advTm="32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Introducción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Las </a:t>
            </a: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Máquinas de Estados Finitos (FSM)</a:t>
            </a: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son esenciales en el control digital porque permiten modelar sistemas que dependen de entradas y estados previos, facilitando un comportamiento ordenado y predecible. Son clave en sistemas críticos, donde garantizan seguridad y confiabilidad mediante respuestas deterministas y estados seguros. Además, su implementación en </a:t>
            </a: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FPGA</a:t>
            </a: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mediante lenguajes como VHDL permite desarrollar soluciones rápidas, precisas y reconfigurables en hardware real.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2301CA8-5F69-4B16-B2BA-6B0D3F68D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Dos trenes comparten vía</a:t>
            </a:r>
          </a:p>
          <a:p>
            <a:r>
              <a:t>Riesgo de colisión</a:t>
            </a:r>
          </a:p>
          <a:p>
            <a:r>
              <a:t>Sistema requiere prioridad automática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DCF603-631C-1700-AEE0-6DD20939D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Solución Propuesta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Máquina de estados (Moore)</a:t>
            </a:r>
          </a:p>
          <a:p>
            <a:r>
              <a:t>Control por sensores</a:t>
            </a:r>
          </a:p>
          <a:p>
            <a:r>
              <a:t>Frenado inteligente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3765ADE-EB3C-F7F8-284E-9FF2DD2BF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Entradas: </a:t>
            </a:r>
            <a:r>
              <a:rPr lang="es-ES" dirty="0" err="1"/>
              <a:t>Reset</a:t>
            </a:r>
            <a:r>
              <a:rPr lang="es-ES" dirty="0"/>
              <a:t>, </a:t>
            </a:r>
            <a:r>
              <a:rPr lang="es-ES" dirty="0" err="1"/>
              <a:t>clock</a:t>
            </a:r>
            <a:r>
              <a:rPr lang="es-ES" dirty="0"/>
              <a:t>, (</a:t>
            </a:r>
            <a:r>
              <a:rPr dirty="0" err="1"/>
              <a:t>sensores</a:t>
            </a:r>
            <a:r>
              <a:rPr dirty="0"/>
              <a:t> S1</a:t>
            </a:r>
            <a:r>
              <a:rPr lang="es-ES" dirty="0"/>
              <a:t>,S2,S3,S4,</a:t>
            </a:r>
            <a:r>
              <a:rPr dirty="0"/>
              <a:t>S5</a:t>
            </a:r>
            <a:r>
              <a:rPr lang="es-ES" dirty="0"/>
              <a:t>)</a:t>
            </a:r>
            <a:endParaRPr dirty="0"/>
          </a:p>
          <a:p>
            <a:r>
              <a:rPr dirty="0" err="1"/>
              <a:t>Salidas</a:t>
            </a:r>
            <a:r>
              <a:rPr dirty="0"/>
              <a:t>: switches</a:t>
            </a:r>
          </a:p>
          <a:p>
            <a:r>
              <a:rPr dirty="0"/>
              <a:t>Control: </a:t>
            </a:r>
            <a:r>
              <a:rPr dirty="0" err="1"/>
              <a:t>dirA</a:t>
            </a:r>
            <a:r>
              <a:rPr dirty="0"/>
              <a:t>, </a:t>
            </a:r>
            <a:r>
              <a:rPr dirty="0" err="1"/>
              <a:t>dirB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A4F61E-B66F-89EE-F874-0FE13A28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3480" y="28575"/>
            <a:ext cx="1680519" cy="10815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Estados del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ABout</a:t>
            </a:r>
            <a:r>
              <a:rPr dirty="0"/>
              <a:t>: </a:t>
            </a:r>
            <a:r>
              <a:rPr lang="es-ES" dirty="0"/>
              <a:t>R</a:t>
            </a:r>
            <a:r>
              <a:rPr dirty="0" err="1"/>
              <a:t>eposo</a:t>
            </a:r>
            <a:endParaRPr dirty="0"/>
          </a:p>
          <a:p>
            <a:r>
              <a:rPr dirty="0"/>
              <a:t>Ain / Bin: </a:t>
            </a:r>
            <a:r>
              <a:rPr lang="es-ES" dirty="0"/>
              <a:t>A</a:t>
            </a:r>
            <a:r>
              <a:rPr dirty="0" err="1"/>
              <a:t>cceso</a:t>
            </a:r>
            <a:r>
              <a:rPr lang="es-ES" dirty="0"/>
              <a:t> o entrada del tren</a:t>
            </a:r>
            <a:endParaRPr dirty="0"/>
          </a:p>
          <a:p>
            <a:r>
              <a:rPr dirty="0" err="1"/>
              <a:t>Astop</a:t>
            </a:r>
            <a:r>
              <a:rPr dirty="0"/>
              <a:t> / </a:t>
            </a:r>
            <a:r>
              <a:rPr dirty="0" err="1"/>
              <a:t>Bstop</a:t>
            </a:r>
            <a:r>
              <a:rPr dirty="0"/>
              <a:t>: </a:t>
            </a:r>
            <a:r>
              <a:rPr lang="es-ES" dirty="0"/>
              <a:t>S</a:t>
            </a:r>
            <a:r>
              <a:rPr dirty="0" err="1"/>
              <a:t>eguridad</a:t>
            </a:r>
            <a:r>
              <a:rPr lang="es-ES" dirty="0"/>
              <a:t> (detener)</a:t>
            </a:r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305600-95BB-FD6A-F4C6-F8010E78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7B8F25-E4BD-5DDE-5916-6E0277B5D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Diagrama de transición de estados </a:t>
            </a:r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1C0DAE6C-90BA-8A96-7F7B-375E18C0E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5764" y="1600200"/>
            <a:ext cx="4712472" cy="45259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208E054-AE65-7EA2-9CE5-B93B00800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3546" y="5911668"/>
            <a:ext cx="1470454" cy="94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494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Lógica de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 err="1"/>
              <a:t>Evaluación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flanco</a:t>
            </a:r>
            <a:r>
              <a:rPr dirty="0"/>
              <a:t> de </a:t>
            </a:r>
            <a:r>
              <a:rPr dirty="0" err="1"/>
              <a:t>reloj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CO" sz="2400" i="0" u="none" strike="noStrike" dirty="0">
                <a:solidFill>
                  <a:srgbClr val="000000"/>
                </a:solidFill>
                <a:effectLst/>
              </a:rPr>
              <a:t>El sistema solo evalúa y cambia de estado en el flanco de subida.</a:t>
            </a:r>
            <a:endParaRPr dirty="0"/>
          </a:p>
          <a:p>
            <a:r>
              <a:rPr dirty="0" err="1"/>
              <a:t>Transiciones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sensores</a:t>
            </a:r>
            <a:r>
              <a:rPr lang="es-ES" dirty="0"/>
              <a:t>:</a:t>
            </a:r>
          </a:p>
          <a:p>
            <a:pPr marL="0" indent="0" algn="l">
              <a:buNone/>
            </a:pPr>
            <a:r>
              <a:rPr lang="es-CO" sz="2400" b="0" i="0" u="none" strike="noStrike" dirty="0">
                <a:solidFill>
                  <a:srgbClr val="000000"/>
                </a:solidFill>
                <a:effectLst/>
              </a:rPr>
              <a:t>El sistema observa los sensores y decide qué hacer.</a:t>
            </a:r>
          </a:p>
          <a:p>
            <a:pPr marL="0" indent="0" algn="l">
              <a:buNone/>
            </a:pPr>
            <a:r>
              <a:rPr lang="es-CO" sz="2400" b="0" i="0" u="none" strike="noStrike" dirty="0">
                <a:solidFill>
                  <a:srgbClr val="000000"/>
                </a:solidFill>
                <a:effectLst/>
              </a:rPr>
              <a:t>-Ejemplo lógico:</a:t>
            </a:r>
          </a:p>
          <a:p>
            <a:pPr marL="0" indent="0" algn="l">
              <a:buNone/>
            </a:pPr>
            <a:r>
              <a:rPr lang="es-CO" sz="2400" b="0" i="0" u="none" strike="noStrike" dirty="0">
                <a:solidFill>
                  <a:srgbClr val="000000"/>
                </a:solidFill>
                <a:effectLst/>
              </a:rPr>
              <a:t>Si un sensor detecta algo → cambia de estado</a:t>
            </a:r>
          </a:p>
          <a:p>
            <a:pPr marL="0" indent="0" algn="l">
              <a:buNone/>
            </a:pPr>
            <a:r>
              <a:rPr lang="es-CO" sz="2400" b="0" i="0" u="none" strike="noStrike" dirty="0">
                <a:solidFill>
                  <a:srgbClr val="000000"/>
                </a:solidFill>
                <a:effectLst/>
              </a:rPr>
              <a:t>Si no → permanece igual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59A78A6-FEC7-3461-258C-8E1D1AB3C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85038-AEF3-6F7C-949F-C8671E5B1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RTL </a:t>
            </a:r>
            <a:r>
              <a:rPr lang="es-CO" dirty="0" err="1"/>
              <a:t>Viewer</a:t>
            </a:r>
            <a:endParaRPr lang="es-CO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6FCA5E3-66FE-F3E8-DAA6-70BC6DBBA5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4977" y="1600200"/>
            <a:ext cx="7874046" cy="45259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DF31305-9938-3E5A-F0FF-FA2F8CD5E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6623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VHDL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7343677" cy="37856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CO" sz="1200" dirty="0">
                <a:latin typeface="Courier New"/>
              </a:rPr>
              <a:t>LIBRARY IEEE;</a:t>
            </a:r>
          </a:p>
          <a:p>
            <a:r>
              <a:rPr lang="es-CO" sz="1200" dirty="0">
                <a:latin typeface="Courier New"/>
              </a:rPr>
              <a:t>USE IEEE.STD_LOGIC_1164.ALL;</a:t>
            </a:r>
          </a:p>
          <a:p>
            <a:r>
              <a:rPr lang="es-CO" sz="1200" dirty="0">
                <a:latin typeface="Courier New"/>
              </a:rPr>
              <a:t>USE IEEE.STD_LOGIC_ARITH.ALL;</a:t>
            </a:r>
          </a:p>
          <a:p>
            <a:r>
              <a:rPr lang="es-CO" sz="1200" dirty="0">
                <a:latin typeface="Courier New"/>
              </a:rPr>
              <a:t>USE IEEE.STD_LOGIC_UNSIGNED.ALL;</a:t>
            </a:r>
          </a:p>
          <a:p>
            <a:endParaRPr lang="es-CO" sz="1200" dirty="0">
              <a:latin typeface="Courier New"/>
            </a:endParaRPr>
          </a:p>
          <a:p>
            <a:r>
              <a:rPr lang="es-CO" sz="1200" dirty="0">
                <a:latin typeface="Courier New"/>
              </a:rPr>
              <a:t>ENTITY PARCIAL2 IS</a:t>
            </a:r>
          </a:p>
          <a:p>
            <a:r>
              <a:rPr lang="es-CO" sz="1200" dirty="0">
                <a:latin typeface="Courier New"/>
              </a:rPr>
              <a:t>PORT(</a:t>
            </a:r>
          </a:p>
          <a:p>
            <a:r>
              <a:rPr lang="es-CO" sz="1200" dirty="0">
                <a:latin typeface="Courier New"/>
              </a:rPr>
              <a:t>    </a:t>
            </a:r>
            <a:r>
              <a:rPr lang="es-CO" sz="1200" dirty="0" err="1">
                <a:latin typeface="Courier New"/>
              </a:rPr>
              <a:t>reset</a:t>
            </a:r>
            <a:r>
              <a:rPr lang="es-CO" sz="1200" dirty="0">
                <a:latin typeface="Courier New"/>
              </a:rPr>
              <a:t>, </a:t>
            </a:r>
            <a:r>
              <a:rPr lang="es-CO" sz="1200" dirty="0" err="1">
                <a:latin typeface="Courier New"/>
              </a:rPr>
              <a:t>clock</a:t>
            </a:r>
            <a:r>
              <a:rPr lang="es-CO" sz="1200" dirty="0">
                <a:latin typeface="Courier New"/>
              </a:rPr>
              <a:t>, sensor1, sensor2, sensor3, sensor4, sensor5 : IN STD_LOGIC;</a:t>
            </a:r>
          </a:p>
          <a:p>
            <a:r>
              <a:rPr lang="es-CO" sz="1200" dirty="0">
                <a:latin typeface="Courier New"/>
              </a:rPr>
              <a:t>    switch1, switch2, switch3 : OUT STD_LOGIC;</a:t>
            </a:r>
          </a:p>
          <a:p>
            <a:r>
              <a:rPr lang="es-CO" sz="1200" dirty="0">
                <a:latin typeface="Courier New"/>
              </a:rPr>
              <a:t>    </a:t>
            </a:r>
            <a:r>
              <a:rPr lang="es-CO" sz="1200" dirty="0" err="1">
                <a:latin typeface="Courier New"/>
              </a:rPr>
              <a:t>dirA</a:t>
            </a:r>
            <a:r>
              <a:rPr lang="es-CO" sz="1200" dirty="0">
                <a:latin typeface="Courier New"/>
              </a:rPr>
              <a:t>, </a:t>
            </a:r>
            <a:r>
              <a:rPr lang="es-CO" sz="1200" dirty="0" err="1">
                <a:latin typeface="Courier New"/>
              </a:rPr>
              <a:t>dirB</a:t>
            </a:r>
            <a:r>
              <a:rPr lang="es-CO" sz="1200" dirty="0">
                <a:latin typeface="Courier New"/>
              </a:rPr>
              <a:t> : OUT STD_LOGIC_VECTOR(1 DOWNTO 0)</a:t>
            </a:r>
          </a:p>
          <a:p>
            <a:r>
              <a:rPr lang="es-CO" sz="1200" dirty="0">
                <a:latin typeface="Courier New"/>
              </a:rPr>
              <a:t>);</a:t>
            </a:r>
          </a:p>
          <a:p>
            <a:r>
              <a:rPr lang="es-CO" sz="1200" dirty="0">
                <a:latin typeface="Courier New"/>
              </a:rPr>
              <a:t>END PARCIAL2;</a:t>
            </a:r>
          </a:p>
          <a:p>
            <a:endParaRPr lang="es-CO" sz="1200" dirty="0">
              <a:latin typeface="Courier New"/>
            </a:endParaRPr>
          </a:p>
          <a:p>
            <a:r>
              <a:rPr lang="es-CO" sz="1200" dirty="0">
                <a:latin typeface="Courier New"/>
              </a:rPr>
              <a:t>ARCHITECTURE a OF PARCIAL2 IS</a:t>
            </a:r>
          </a:p>
          <a:p>
            <a:r>
              <a:rPr lang="es-CO" sz="1200" dirty="0">
                <a:latin typeface="Courier New"/>
              </a:rPr>
              <a:t>    TYPE STATE_TYPE IS (</a:t>
            </a:r>
            <a:r>
              <a:rPr lang="es-CO" sz="1200" dirty="0" err="1">
                <a:latin typeface="Courier New"/>
              </a:rPr>
              <a:t>ABout</a:t>
            </a:r>
            <a:r>
              <a:rPr lang="es-CO" sz="1200" dirty="0">
                <a:latin typeface="Courier New"/>
              </a:rPr>
              <a:t>, Ain, </a:t>
            </a:r>
            <a:r>
              <a:rPr lang="es-CO" sz="1200" dirty="0" err="1">
                <a:latin typeface="Courier New"/>
              </a:rPr>
              <a:t>Bin</a:t>
            </a:r>
            <a:r>
              <a:rPr lang="es-CO" sz="1200" dirty="0">
                <a:latin typeface="Courier New"/>
              </a:rPr>
              <a:t>, </a:t>
            </a:r>
            <a:r>
              <a:rPr lang="es-CO" sz="1200" dirty="0" err="1">
                <a:latin typeface="Courier New"/>
              </a:rPr>
              <a:t>Astop</a:t>
            </a:r>
            <a:r>
              <a:rPr lang="es-CO" sz="1200" dirty="0">
                <a:latin typeface="Courier New"/>
              </a:rPr>
              <a:t>, </a:t>
            </a:r>
            <a:r>
              <a:rPr lang="es-CO" sz="1200" dirty="0" err="1">
                <a:latin typeface="Courier New"/>
              </a:rPr>
              <a:t>Bstop</a:t>
            </a:r>
            <a:r>
              <a:rPr lang="es-CO" sz="1200" dirty="0">
                <a:latin typeface="Courier New"/>
              </a:rPr>
              <a:t>);</a:t>
            </a:r>
          </a:p>
          <a:p>
            <a:r>
              <a:rPr lang="es-CO" sz="1200" dirty="0">
                <a:latin typeface="Courier New"/>
              </a:rPr>
              <a:t>    SIGNAL </a:t>
            </a:r>
            <a:r>
              <a:rPr lang="es-CO" sz="1200" dirty="0" err="1">
                <a:latin typeface="Courier New"/>
              </a:rPr>
              <a:t>state</a:t>
            </a:r>
            <a:r>
              <a:rPr lang="es-CO" sz="1200" dirty="0">
                <a:latin typeface="Courier New"/>
              </a:rPr>
              <a:t>: STATE_TYPE;</a:t>
            </a:r>
          </a:p>
          <a:p>
            <a:r>
              <a:rPr lang="es-CO" sz="1200" dirty="0">
                <a:latin typeface="Courier New"/>
              </a:rPr>
              <a:t>    SIGNAL sensor12, sensor13, sensor24 : STD_LOGIC_VECTOR(1 DOWNTO 0);</a:t>
            </a:r>
          </a:p>
          <a:p>
            <a:r>
              <a:rPr lang="es-CO" sz="1200" dirty="0">
                <a:latin typeface="Courier New"/>
              </a:rPr>
              <a:t>BEGIN</a:t>
            </a:r>
          </a:p>
          <a:p>
            <a:endParaRPr lang="es-CO" sz="1200" dirty="0">
              <a:latin typeface="Courier New"/>
            </a:endParaRPr>
          </a:p>
          <a:p>
            <a:r>
              <a:rPr lang="es-CO" sz="1200" dirty="0">
                <a:latin typeface="Courier New"/>
              </a:rPr>
              <a:t>    </a:t>
            </a:r>
            <a:endParaRPr sz="1200" dirty="0">
              <a:latin typeface="Courier New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1268567-E5C0-B296-8935-E694C4FBC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98854"/>
            <a:ext cx="4361936" cy="5847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200" dirty="0">
                <a:latin typeface="Courier New"/>
              </a:rPr>
              <a:t>   </a:t>
            </a:r>
            <a:r>
              <a:rPr lang="es-CO" sz="1000" dirty="0">
                <a:latin typeface="Courier New"/>
              </a:rPr>
              <a:t>PROCESS (</a:t>
            </a:r>
            <a:r>
              <a:rPr lang="es-CO" sz="1000" dirty="0" err="1">
                <a:latin typeface="Courier New"/>
              </a:rPr>
              <a:t>reset</a:t>
            </a:r>
            <a:r>
              <a:rPr lang="es-CO" sz="1000" dirty="0">
                <a:latin typeface="Courier New"/>
              </a:rPr>
              <a:t>, </a:t>
            </a:r>
            <a:r>
              <a:rPr lang="es-CO" sz="1000" dirty="0" err="1">
                <a:latin typeface="Courier New"/>
              </a:rPr>
              <a:t>clock</a:t>
            </a:r>
            <a:r>
              <a:rPr lang="es-CO" sz="1000" dirty="0">
                <a:latin typeface="Courier New"/>
              </a:rPr>
              <a:t>)</a:t>
            </a:r>
          </a:p>
          <a:p>
            <a:r>
              <a:rPr lang="es-CO" sz="1000" dirty="0">
                <a:latin typeface="Courier New"/>
              </a:rPr>
              <a:t>    BEGIN</a:t>
            </a:r>
          </a:p>
          <a:p>
            <a:r>
              <a:rPr lang="es-CO" sz="1000" dirty="0">
                <a:latin typeface="Courier New"/>
              </a:rPr>
              <a:t>        IF </a:t>
            </a:r>
            <a:r>
              <a:rPr lang="es-CO" sz="1000" dirty="0" err="1">
                <a:latin typeface="Courier New"/>
              </a:rPr>
              <a:t>reset</a:t>
            </a:r>
            <a:r>
              <a:rPr lang="es-CO" sz="1000" dirty="0">
                <a:latin typeface="Courier New"/>
              </a:rPr>
              <a:t> = '1' THEN</a:t>
            </a:r>
          </a:p>
          <a:p>
            <a:r>
              <a:rPr lang="es-CO" sz="1000" dirty="0">
                <a:latin typeface="Courier New"/>
              </a:rPr>
              <a:t>           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ELSIF </a:t>
            </a:r>
            <a:r>
              <a:rPr lang="es-CO" sz="1000" dirty="0" err="1">
                <a:latin typeface="Courier New"/>
              </a:rPr>
              <a:t>clock'EVENT</a:t>
            </a:r>
            <a:r>
              <a:rPr lang="es-CO" sz="1000" dirty="0">
                <a:latin typeface="Courier New"/>
              </a:rPr>
              <a:t> AND </a:t>
            </a:r>
            <a:r>
              <a:rPr lang="es-CO" sz="1000" dirty="0" err="1">
                <a:latin typeface="Courier New"/>
              </a:rPr>
              <a:t>clock</a:t>
            </a:r>
            <a:r>
              <a:rPr lang="es-CO" sz="1000" dirty="0">
                <a:latin typeface="Courier New"/>
              </a:rPr>
              <a:t> = '1' THEN</a:t>
            </a:r>
          </a:p>
          <a:p>
            <a:r>
              <a:rPr lang="es-CO" sz="1000" dirty="0">
                <a:latin typeface="Courier New"/>
              </a:rPr>
              <a:t>            CASE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IS</a:t>
            </a:r>
          </a:p>
          <a:p>
            <a:r>
              <a:rPr lang="es-CO" sz="1000" dirty="0">
                <a:latin typeface="Courier New"/>
              </a:rPr>
              <a:t>                WHEN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 =&gt;</a:t>
            </a:r>
          </a:p>
          <a:p>
            <a:r>
              <a:rPr lang="es-CO" sz="1000" dirty="0">
                <a:latin typeface="Courier New"/>
              </a:rPr>
              <a:t>                    CASE sensor12 IS</a:t>
            </a:r>
          </a:p>
          <a:p>
            <a:r>
              <a:rPr lang="es-CO" sz="1000" dirty="0">
                <a:latin typeface="Courier New"/>
              </a:rPr>
              <a:t>                        WHEN "00"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"01"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"10"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Ain;</a:t>
            </a:r>
          </a:p>
          <a:p>
            <a:r>
              <a:rPr lang="es-CO" sz="1000" dirty="0">
                <a:latin typeface="Courier New"/>
              </a:rPr>
              <a:t>                        WHEN "11"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Ain;</a:t>
            </a:r>
          </a:p>
          <a:p>
            <a:r>
              <a:rPr lang="es-CO" sz="1000" dirty="0">
                <a:latin typeface="Courier New"/>
              </a:rPr>
              <a:t>                        WHEN OTHERS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END CASE;</a:t>
            </a:r>
          </a:p>
          <a:p>
            <a:r>
              <a:rPr lang="es-CO" sz="1000" dirty="0">
                <a:latin typeface="Courier New"/>
              </a:rPr>
              <a:t>                WHEN Ain =&gt;</a:t>
            </a:r>
          </a:p>
          <a:p>
            <a:r>
              <a:rPr lang="es-CO" sz="1000" dirty="0">
                <a:latin typeface="Courier New"/>
              </a:rPr>
              <a:t>                    CASE sensor24 IS</a:t>
            </a:r>
          </a:p>
          <a:p>
            <a:r>
              <a:rPr lang="es-CO" sz="1000" dirty="0">
                <a:latin typeface="Courier New"/>
              </a:rPr>
              <a:t>                        WHEN "00"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Ain;</a:t>
            </a:r>
          </a:p>
          <a:p>
            <a:r>
              <a:rPr lang="es-CO" sz="1000" dirty="0">
                <a:latin typeface="Courier New"/>
              </a:rPr>
              <a:t>                        WHEN "01"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"10"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"11"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OTHERS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END CASE;</a:t>
            </a:r>
          </a:p>
          <a:p>
            <a:r>
              <a:rPr lang="es-CO" sz="1000" dirty="0">
                <a:latin typeface="Courier New"/>
              </a:rPr>
              <a:t>                WHEN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 =&gt;</a:t>
            </a:r>
          </a:p>
          <a:p>
            <a:r>
              <a:rPr lang="es-CO" sz="1000" dirty="0">
                <a:latin typeface="Courier New"/>
              </a:rPr>
              <a:t>                    CASE sensor13 IS</a:t>
            </a:r>
          </a:p>
          <a:p>
            <a:r>
              <a:rPr lang="es-CO" sz="1000" dirty="0">
                <a:latin typeface="Courier New"/>
              </a:rPr>
              <a:t>                        WHEN "00"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"01"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"10"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"11"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    WHEN OTHERS =&gt;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END CASE;</a:t>
            </a:r>
          </a:p>
          <a:p>
            <a:r>
              <a:rPr lang="es-CO" sz="1000" dirty="0">
                <a:latin typeface="Courier New"/>
              </a:rPr>
              <a:t>                WHEN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 =&gt;</a:t>
            </a:r>
          </a:p>
          <a:p>
            <a:r>
              <a:rPr lang="es-CO" sz="1000" dirty="0">
                <a:latin typeface="Courier New"/>
              </a:rPr>
              <a:t>                    IF sensor3 = '1' THEN</a:t>
            </a:r>
          </a:p>
          <a:p>
            <a:r>
              <a:rPr lang="es-CO" sz="1000" dirty="0">
                <a:latin typeface="Courier New"/>
              </a:rPr>
              <a:t>                       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Ain;</a:t>
            </a:r>
          </a:p>
          <a:p>
            <a:r>
              <a:rPr lang="es-CO" sz="1000" dirty="0">
                <a:latin typeface="Courier New"/>
              </a:rPr>
              <a:t>                    ELSE</a:t>
            </a:r>
          </a:p>
          <a:p>
            <a:r>
              <a:rPr lang="es-CO" sz="1000" dirty="0">
                <a:latin typeface="Courier New"/>
              </a:rPr>
              <a:t>                       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END IF;</a:t>
            </a:r>
          </a:p>
          <a:p>
            <a:r>
              <a:rPr lang="es-CO" sz="1200" dirty="0">
                <a:latin typeface="Courier New"/>
              </a:rPr>
              <a:t>                </a:t>
            </a:r>
            <a:endParaRPr sz="1200" dirty="0">
              <a:latin typeface="Courier New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28E4C1E-EC7E-EC1D-FB97-CC63D14C7E2D}"/>
              </a:ext>
            </a:extLst>
          </p:cNvPr>
          <p:cNvSpPr txBox="1"/>
          <p:nvPr/>
        </p:nvSpPr>
        <p:spPr>
          <a:xfrm>
            <a:off x="4782066" y="-79653"/>
            <a:ext cx="504155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00" dirty="0">
                <a:latin typeface="Courier New"/>
              </a:rPr>
              <a:t>WHEN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 =&gt;</a:t>
            </a:r>
          </a:p>
          <a:p>
            <a:r>
              <a:rPr lang="es-CO" sz="1000" dirty="0">
                <a:latin typeface="Courier New"/>
              </a:rPr>
              <a:t>                    IF sensor4 = '1’       </a:t>
            </a:r>
          </a:p>
          <a:p>
            <a:r>
              <a:rPr lang="es-CO" sz="1000" dirty="0">
                <a:latin typeface="Courier New"/>
              </a:rPr>
              <a:t>              THEN</a:t>
            </a:r>
          </a:p>
          <a:p>
            <a:r>
              <a:rPr lang="es-CO" sz="1000" dirty="0">
                <a:latin typeface="Courier New"/>
              </a:rPr>
              <a:t>                       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ELSE</a:t>
            </a:r>
          </a:p>
          <a:p>
            <a:r>
              <a:rPr lang="es-CO" sz="1000" dirty="0">
                <a:latin typeface="Courier New"/>
              </a:rPr>
              <a:t>                       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&lt;=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                    END IF;</a:t>
            </a:r>
          </a:p>
          <a:p>
            <a:r>
              <a:rPr lang="es-CO" sz="1000" dirty="0">
                <a:latin typeface="Courier New"/>
              </a:rPr>
              <a:t>            END CASE;</a:t>
            </a:r>
          </a:p>
          <a:p>
            <a:r>
              <a:rPr lang="es-CO" sz="1000" dirty="0">
                <a:latin typeface="Courier New"/>
              </a:rPr>
              <a:t>        END IF;</a:t>
            </a:r>
          </a:p>
          <a:p>
            <a:r>
              <a:rPr lang="es-CO" sz="1000" dirty="0">
                <a:latin typeface="Courier New"/>
              </a:rPr>
              <a:t>    END PROCESS;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sensor12 &lt;= sensor1 &amp; sensor2;</a:t>
            </a:r>
          </a:p>
          <a:p>
            <a:r>
              <a:rPr lang="es-CO" sz="1000" dirty="0">
                <a:latin typeface="Courier New"/>
              </a:rPr>
              <a:t>    sensor13 &lt;= sensor1 &amp; sensor3;</a:t>
            </a:r>
          </a:p>
          <a:p>
            <a:r>
              <a:rPr lang="es-CO" sz="1000" dirty="0">
                <a:latin typeface="Courier New"/>
              </a:rPr>
              <a:t>    sensor24 &lt;= sensor2 &amp; sensor4;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switch3 &lt;= '0';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WITH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SELECT</a:t>
            </a:r>
          </a:p>
          <a:p>
            <a:r>
              <a:rPr lang="es-CO" sz="1000" dirty="0">
                <a:latin typeface="Courier New"/>
              </a:rPr>
              <a:t>        switch1 &lt;= '0' WHEN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'0' WHEN Ain,</a:t>
            </a:r>
          </a:p>
          <a:p>
            <a:r>
              <a:rPr lang="es-CO" sz="1000" dirty="0">
                <a:latin typeface="Courier New"/>
              </a:rPr>
              <a:t>                   '1' WHEN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'1' WHEN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'0' WHEN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WITH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SELECT</a:t>
            </a:r>
          </a:p>
          <a:p>
            <a:r>
              <a:rPr lang="es-CO" sz="1000" dirty="0">
                <a:latin typeface="Courier New"/>
              </a:rPr>
              <a:t>        switch2 &lt;= '0' WHEN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'0' WHEN Ain,</a:t>
            </a:r>
          </a:p>
          <a:p>
            <a:r>
              <a:rPr lang="es-CO" sz="1000" dirty="0">
                <a:latin typeface="Courier New"/>
              </a:rPr>
              <a:t>                   '1' WHEN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'1' WHEN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   '0' WHEN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WITH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SELECT</a:t>
            </a:r>
          </a:p>
          <a:p>
            <a:r>
              <a:rPr lang="es-CO" sz="1000" dirty="0">
                <a:latin typeface="Courier New"/>
              </a:rPr>
              <a:t>        </a:t>
            </a:r>
            <a:r>
              <a:rPr lang="es-CO" sz="1000" dirty="0" err="1">
                <a:latin typeface="Courier New"/>
              </a:rPr>
              <a:t>dirA</a:t>
            </a:r>
            <a:r>
              <a:rPr lang="es-CO" sz="1000" dirty="0">
                <a:latin typeface="Courier New"/>
              </a:rPr>
              <a:t> &lt;= "01" WHEN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"01" WHEN Ain,</a:t>
            </a:r>
          </a:p>
          <a:p>
            <a:r>
              <a:rPr lang="es-CO" sz="1000" dirty="0">
                <a:latin typeface="Courier New"/>
              </a:rPr>
              <a:t>                "01" WHEN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"00" WHEN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"01" WHEN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endParaRPr lang="es-CO" sz="1000" dirty="0">
              <a:latin typeface="Courier New"/>
            </a:endParaRPr>
          </a:p>
          <a:p>
            <a:r>
              <a:rPr lang="es-CO" sz="1000" dirty="0">
                <a:latin typeface="Courier New"/>
              </a:rPr>
              <a:t>    WITH </a:t>
            </a:r>
            <a:r>
              <a:rPr lang="es-CO" sz="1000" dirty="0" err="1">
                <a:latin typeface="Courier New"/>
              </a:rPr>
              <a:t>state</a:t>
            </a:r>
            <a:r>
              <a:rPr lang="es-CO" sz="1000" dirty="0">
                <a:latin typeface="Courier New"/>
              </a:rPr>
              <a:t> SELECT</a:t>
            </a:r>
          </a:p>
          <a:p>
            <a:r>
              <a:rPr lang="es-CO" sz="1000" dirty="0">
                <a:latin typeface="Courier New"/>
              </a:rPr>
              <a:t>        </a:t>
            </a:r>
            <a:r>
              <a:rPr lang="es-CO" sz="1000" dirty="0" err="1">
                <a:latin typeface="Courier New"/>
              </a:rPr>
              <a:t>dirB</a:t>
            </a:r>
            <a:r>
              <a:rPr lang="es-CO" sz="1000" dirty="0">
                <a:latin typeface="Courier New"/>
              </a:rPr>
              <a:t> &lt;= "01" WHEN </a:t>
            </a:r>
            <a:r>
              <a:rPr lang="es-CO" sz="1000" dirty="0" err="1">
                <a:latin typeface="Courier New"/>
              </a:rPr>
              <a:t>ABout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"01" WHEN Ain,</a:t>
            </a:r>
          </a:p>
          <a:p>
            <a:r>
              <a:rPr lang="es-CO" sz="1000" dirty="0">
                <a:latin typeface="Courier New"/>
              </a:rPr>
              <a:t>                "01" WHEN </a:t>
            </a:r>
            <a:r>
              <a:rPr lang="es-CO" sz="1000" dirty="0" err="1">
                <a:latin typeface="Courier New"/>
              </a:rPr>
              <a:t>Bin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"01" WHEN </a:t>
            </a:r>
            <a:r>
              <a:rPr lang="es-CO" sz="1000" dirty="0" err="1">
                <a:latin typeface="Courier New"/>
              </a:rPr>
              <a:t>Astop</a:t>
            </a:r>
            <a:r>
              <a:rPr lang="es-CO" sz="1000" dirty="0">
                <a:latin typeface="Courier New"/>
              </a:rPr>
              <a:t>,</a:t>
            </a:r>
          </a:p>
          <a:p>
            <a:r>
              <a:rPr lang="es-CO" sz="1000" dirty="0">
                <a:latin typeface="Courier New"/>
              </a:rPr>
              <a:t>                "00" WHEN </a:t>
            </a:r>
            <a:r>
              <a:rPr lang="es-CO" sz="1000" dirty="0" err="1">
                <a:latin typeface="Courier New"/>
              </a:rPr>
              <a:t>Bstop</a:t>
            </a:r>
            <a:r>
              <a:rPr lang="es-CO" sz="1000" dirty="0">
                <a:latin typeface="Courier New"/>
              </a:rPr>
              <a:t>;</a:t>
            </a:r>
          </a:p>
          <a:p>
            <a:r>
              <a:rPr lang="es-CO" sz="1000" dirty="0">
                <a:latin typeface="Courier New"/>
              </a:rPr>
              <a:t>END a;</a:t>
            </a:r>
            <a:endParaRPr lang="es-CO" sz="1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C6762DD-E341-1CC8-2244-A171F9DFE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4366" y="28576"/>
            <a:ext cx="1299633" cy="8363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Las </a:t>
            </a:r>
            <a:r>
              <a:rPr lang="es-CO" b="1" i="0" u="none" strike="noStrike" dirty="0">
                <a:solidFill>
                  <a:srgbClr val="000000"/>
                </a:solidFill>
                <a:effectLst/>
              </a:rPr>
              <a:t>Máquinas de Estados Finitos (FSM)</a:t>
            </a:r>
            <a:r>
              <a:rPr lang="es-CO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son una solución ideal para el control digital, ya que permiten organizar el sistema en estados y transiciones claras, facilitando un comportamiento ordenado y fácil de diseñar. Este enfoque da lugar a un sistema robusto y confiable, capaz de responder correctamente ante diferentes condiciones y de incorporar estados de seguridad para evitar fallos. Además, al estar basado en un diseño síncrono y estructurado, el sistema es totalmente apto para su implementación en FPGA, ofreciendo alta velocidad, precisión y flexibilidad en hardware real.</a:t>
            </a:r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F9543A0-7855-1C40-149E-21ACFCE5C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416" y="28575"/>
            <a:ext cx="1890584" cy="12167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647</TotalTime>
  <Words>938</Words>
  <Application>Microsoft Macintosh PowerPoint</Application>
  <PresentationFormat>Presentación en pantalla (4:3)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-webkit-standard</vt:lpstr>
      <vt:lpstr>Arial</vt:lpstr>
      <vt:lpstr>Calibri</vt:lpstr>
      <vt:lpstr>Courier New</vt:lpstr>
      <vt:lpstr>Office Theme</vt:lpstr>
      <vt:lpstr>Control Inteligente de Trenes con FSM</vt:lpstr>
      <vt:lpstr>Introducción</vt:lpstr>
      <vt:lpstr>Problema</vt:lpstr>
      <vt:lpstr>Solución Propuesta</vt:lpstr>
      <vt:lpstr>Arquitectura del Sistema</vt:lpstr>
      <vt:lpstr>Estados del Sistema</vt:lpstr>
      <vt:lpstr>Diagrama de transición de estados </vt:lpstr>
      <vt:lpstr>Lógica de Control</vt:lpstr>
      <vt:lpstr>RTL Viewer</vt:lpstr>
      <vt:lpstr>VHDL</vt:lpstr>
      <vt:lpstr>Presentación de PowerPoint</vt:lpstr>
      <vt:lpstr>Conclusiones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Sergio Andres Guerrero Herrera</cp:lastModifiedBy>
  <cp:revision>3</cp:revision>
  <dcterms:created xsi:type="dcterms:W3CDTF">2013-01-27T09:14:16Z</dcterms:created>
  <dcterms:modified xsi:type="dcterms:W3CDTF">2026-04-27T15:12:17Z</dcterms:modified>
  <cp:category/>
</cp:coreProperties>
</file>